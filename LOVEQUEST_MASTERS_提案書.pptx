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7B5EA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365760"/>
            <a:ext cx="1645920" cy="1645920"/>
          </a:xfrm>
          <a:prstGeom prst="ellipse">
            <a:avLst/>
          </a:prstGeom>
          <a:solidFill>
            <a:srgbClr val="F5A623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spc="600" kern="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LOVEQUEST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1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MASTERS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2926080" y="2907792"/>
            <a:ext cx="32918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RPG型 恋愛学習プラットフォーム  構築提案書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企画・監修: ジョニー   ×   構築: リョータロー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コンセプト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恋愛を「人生RPG」にする — 出会いのテクニックではなく、生き方のゲーミフィケーション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レベルアップ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仮説・検証の場数を踏む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0448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武器を持つ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0448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外見力・デート力を磨く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3167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30568" y="12984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仲間を増やす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0568" y="168249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オフ会・勉強会で同士を作る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840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ジャブ変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16タイプを操れるようになる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0448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攻略法を持つ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0448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タイプ別コミュニケーション術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9626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0568" y="294436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ラスボスを倒す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3328416"/>
            <a:ext cx="1947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人生の目標を達成する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システム構成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「既存プラットフォーム」と「RPGアプリ」の役割分担でDevOpsコストをゼロに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(既存プラットフォーム・保守不要)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会員管理・ログイン認証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決済・サブスク管理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動画コンテンツ配信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メルマガ・LINE配信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コンテンツアクセス制御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24528" y="2907792"/>
            <a:ext cx="71323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825496"/>
            <a:ext cx="9144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リンク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170432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RPGダッシュボード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(Claude Code製・GitHub Pages・無料)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16タイプアバター選択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4ステータス可視化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クエスト達成度管理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レベルアップ演出・通知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3803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進捗保存（サーバーレス）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サーバー管理ゼロ・月額追加費用ゼロ・独自ドメイン対応可能（例: lovequest-masters.jp）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ユーザー体験フロー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78992"/>
            <a:ext cx="566928" cy="56692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UTAGEで入会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会員登録・決済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コース教材にアクセス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83664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93392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078992"/>
            <a:ext cx="566928" cy="5669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アバター選択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16タイプから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自分のキャラ選択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12464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07899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215384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03904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教材で学ぶ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動画・テキスト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クエスト形式で進める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21808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31536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1078992"/>
            <a:ext cx="566928" cy="5669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934456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22976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レベルアップ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2976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4ステータスが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学習で上昇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194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50608" y="9144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3528" y="1078992"/>
            <a:ext cx="566928" cy="566928"/>
          </a:xfrm>
          <a:prstGeom prst="ellipse">
            <a:avLst/>
          </a:prstGeom>
          <a:solidFill>
            <a:srgbClr val="4CAF73"/>
          </a:solidFill>
          <a:ln/>
        </p:spPr>
      </p:sp>
      <p:sp>
        <p:nvSpPr>
          <p:cNvPr id="30" name="Text 28"/>
          <p:cNvSpPr/>
          <p:nvPr/>
        </p:nvSpPr>
        <p:spPr>
          <a:xfrm>
            <a:off x="7653528" y="108813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42048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仲間と実践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3042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オフ会・勉強会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コミュニティで活動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恋愛を通じて、人生のラスボスを攻略する旅へ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アバター選択 — 16タイプ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入会後まず自分のタイプを選ぶ。このキャラクターで冒険が始まる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狂戦士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35608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132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勇者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3744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9464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魔法戦士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聖戦士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45736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88152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33872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騎士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76288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🗡️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2200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盗賊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64424" y="969264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10332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10144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妖精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3192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シスター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35608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81328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兵士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23744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9464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569464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牧師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11880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🦉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57600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賢者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0016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745736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魔道士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88152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🥷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33872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忍者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76288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22008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22008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道化師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64424" y="1947672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0144" y="20116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010144" y="2459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占い師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戦士系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0" y="466344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277977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💃 踊り子系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4663440"/>
            <a:ext cx="164592" cy="164592"/>
          </a:xfrm>
          <a:prstGeom prst="ellipse">
            <a:avLst/>
          </a:prstGeom>
          <a:solidFill>
            <a:srgbClr val="4CAF73"/>
          </a:solidFill>
          <a:ln/>
        </p:spPr>
      </p:sp>
      <p:sp>
        <p:nvSpPr>
          <p:cNvPr id="58" name="Text 56"/>
          <p:cNvSpPr/>
          <p:nvPr/>
        </p:nvSpPr>
        <p:spPr>
          <a:xfrm>
            <a:off x="488289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僧侶系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766560" y="4663440"/>
            <a:ext cx="164592" cy="164592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60" name="Text 58"/>
          <p:cNvSpPr/>
          <p:nvPr/>
        </p:nvSpPr>
        <p:spPr>
          <a:xfrm>
            <a:off x="6986016" y="4636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魔法使い系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ステータス &amp; クエストシステム（UI イメージ）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1A1A35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🧙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魔法戦士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Lv.4  冒険者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2491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2A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724912"/>
            <a:ext cx="1077163" cy="201168"/>
          </a:xfrm>
          <a:prstGeom prst="roundRect">
            <a:avLst>
              <a:gd name="adj" fmla="val 22727"/>
            </a:avLst>
          </a:prstGeom>
          <a:solidFill>
            <a:srgbClr val="7B5E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80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 62%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ステータス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207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外見力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2070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15968" y="1271016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5968" y="1271016"/>
            <a:ext cx="1069848" cy="18288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007608" y="12070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9568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デート力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9568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2020824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315968" y="202082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007608" y="19568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7066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💫 魅了力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2706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2770632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15968" y="2770632"/>
            <a:ext cx="905256" cy="182880"/>
          </a:xfrm>
          <a:prstGeom prst="roundRect">
            <a:avLst>
              <a:gd name="adj" fmla="val 20000"/>
            </a:avLst>
          </a:prstGeom>
          <a:solidFill>
            <a:srgbClr val="7B5EA7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27066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4564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コミュ力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45643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15968" y="352044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315968" y="3520440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CAF73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08" y="34564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749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クエスト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1207008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タイプ判定マスター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92240" y="1828800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0D1F0D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外見力Lv.5達成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2450592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49440" y="2542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初回デート成功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92240" y="3072384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49440" y="31638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2回目デートOK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92240" y="3694176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1A1A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⬜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49440" y="37856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交際スタート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06040" y="42976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414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4074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総合 Lv.4   次まで ████░░░  62%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2801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費用概算 — パターン別比較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74320" y="49377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UTAGEは必須ではない。ニーズに合わせてパターンを選択できます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86384"/>
            <a:ext cx="2011680" cy="3657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786384"/>
            <a:ext cx="1005840" cy="3657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786384"/>
            <a:ext cx="1325880" cy="365760"/>
          </a:xfrm>
          <a:prstGeom prst="rect">
            <a:avLst/>
          </a:prstGeom>
          <a:solidFill>
            <a:srgbClr val="1A25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786384"/>
            <a:ext cx="1325880" cy="365760"/>
          </a:xfrm>
          <a:prstGeom prst="rect">
            <a:avLst/>
          </a:prstGeom>
          <a:solidFill>
            <a:srgbClr val="1A2520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786384"/>
            <a:ext cx="1325880" cy="365760"/>
          </a:xfrm>
          <a:prstGeom prst="rect">
            <a:avLst/>
          </a:prstGeom>
          <a:solidFill>
            <a:srgbClr val="251A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786384"/>
            <a:ext cx="1325880" cy="365760"/>
          </a:xfrm>
          <a:prstGeom prst="rect">
            <a:avLst/>
          </a:prstGeom>
          <a:solidFill>
            <a:srgbClr val="251A2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80467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13432" y="80467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費用/月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9272" y="8046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超ミニマム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5152" y="8046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パターン2 標準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★推奨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71032" y="8046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AWS本格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96912" y="804672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パターン4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UTAGEなし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152144"/>
            <a:ext cx="201168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1152144"/>
            <a:ext cx="100584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1152144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152144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152144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1152144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11521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UTAGE（会員管理・動画配信）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13432" y="115214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約20,000円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319272" y="115214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45152" y="115214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71032" y="115214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115214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1399032"/>
            <a:ext cx="201168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1399032"/>
            <a:ext cx="100584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1399032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399032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399032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1399032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Pages（RPGアプリ）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13432" y="1399032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3319272" y="139903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45152" y="139903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71032" y="139903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96912" y="139903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1645920"/>
            <a:ext cx="201168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1645920"/>
            <a:ext cx="100584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3" name="Shape 41"/>
          <p:cNvSpPr/>
          <p:nvPr/>
        </p:nvSpPr>
        <p:spPr>
          <a:xfrm>
            <a:off x="3291840" y="1645920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1645920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645920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1645920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16459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独自ドメイン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13432" y="164592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約150円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3319272" y="16459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45152" y="16459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1032" y="16459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96912" y="16459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1892808"/>
            <a:ext cx="201168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54" name="Shape 52"/>
          <p:cNvSpPr/>
          <p:nvPr/>
        </p:nvSpPr>
        <p:spPr>
          <a:xfrm>
            <a:off x="2286000" y="1892808"/>
            <a:ext cx="100584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55" name="Shape 53"/>
          <p:cNvSpPr/>
          <p:nvPr/>
        </p:nvSpPr>
        <p:spPr>
          <a:xfrm>
            <a:off x="3291840" y="1892808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1892808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1892808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9480" y="1892808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1892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+ CloudFront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313432" y="1892808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約100円</a:t>
            </a:r>
            <a:endParaRPr lang="en-US" sz="870" dirty="0"/>
          </a:p>
        </p:txBody>
      </p:sp>
      <p:sp>
        <p:nvSpPr>
          <p:cNvPr id="61" name="Text 59"/>
          <p:cNvSpPr/>
          <p:nvPr/>
        </p:nvSpPr>
        <p:spPr>
          <a:xfrm>
            <a:off x="3319272" y="18928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645152" y="18928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971032" y="18928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296912" y="18928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2139696"/>
            <a:ext cx="201168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6" name="Shape 64"/>
          <p:cNvSpPr/>
          <p:nvPr/>
        </p:nvSpPr>
        <p:spPr>
          <a:xfrm>
            <a:off x="2286000" y="2139696"/>
            <a:ext cx="100584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67" name="Shape 65"/>
          <p:cNvSpPr/>
          <p:nvPr/>
        </p:nvSpPr>
        <p:spPr>
          <a:xfrm>
            <a:off x="3291840" y="2139696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17720" y="2139696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0" y="2139696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2139696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" y="21396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AWSバックエンド（進捗DB）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313432" y="2139696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約3,000〜10,000円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3319272" y="213969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645152" y="213969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971032" y="213969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7296912" y="213969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74320" y="2386584"/>
            <a:ext cx="201168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78" name="Shape 76"/>
          <p:cNvSpPr/>
          <p:nvPr/>
        </p:nvSpPr>
        <p:spPr>
          <a:xfrm>
            <a:off x="2286000" y="2386584"/>
            <a:ext cx="100584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79" name="Shape 77"/>
          <p:cNvSpPr/>
          <p:nvPr/>
        </p:nvSpPr>
        <p:spPr>
          <a:xfrm>
            <a:off x="3291840" y="2386584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17720" y="2386584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43600" y="2386584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386584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238658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Stripe決済（決済リンク直契約）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313432" y="238658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決済手数料のみ</a:t>
            </a:r>
            <a:endParaRPr lang="en-US" sz="870" dirty="0"/>
          </a:p>
        </p:txBody>
      </p:sp>
      <p:sp>
        <p:nvSpPr>
          <p:cNvPr id="85" name="Text 83"/>
          <p:cNvSpPr/>
          <p:nvPr/>
        </p:nvSpPr>
        <p:spPr>
          <a:xfrm>
            <a:off x="3319272" y="238658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4645152" y="238658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5971032" y="238658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296912" y="238658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74320" y="2633472"/>
            <a:ext cx="201168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90" name="Shape 88"/>
          <p:cNvSpPr/>
          <p:nvPr/>
        </p:nvSpPr>
        <p:spPr>
          <a:xfrm>
            <a:off x="2286000" y="2633472"/>
            <a:ext cx="100584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91" name="Shape 89"/>
          <p:cNvSpPr/>
          <p:nvPr/>
        </p:nvSpPr>
        <p:spPr>
          <a:xfrm>
            <a:off x="3291840" y="2633472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17720" y="2633472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43600" y="2633472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69480" y="2633472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9184" y="26334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Auth+DB（認証+進捗保存）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313432" y="2633472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¥0〜</a:t>
            </a:r>
            <a:endParaRPr lang="en-US" sz="870" dirty="0"/>
          </a:p>
        </p:txBody>
      </p:sp>
      <p:sp>
        <p:nvSpPr>
          <p:cNvPr id="97" name="Text 95"/>
          <p:cNvSpPr/>
          <p:nvPr/>
        </p:nvSpPr>
        <p:spPr>
          <a:xfrm>
            <a:off x="3319272" y="263347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4645152" y="263347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5971032" y="263347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296912" y="263347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274320" y="2880360"/>
            <a:ext cx="201168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286000" y="2880360"/>
            <a:ext cx="100584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91840" y="2880360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17720" y="2880360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43600" y="2880360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69480" y="2880360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9184" y="28803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Vimeo限定公開（動画配信）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313432" y="288036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¥0〜1,500円</a:t>
            </a:r>
            <a:endParaRPr lang="en-US" sz="870" dirty="0"/>
          </a:p>
        </p:txBody>
      </p:sp>
      <p:sp>
        <p:nvSpPr>
          <p:cNvPr id="109" name="Text 107"/>
          <p:cNvSpPr/>
          <p:nvPr/>
        </p:nvSpPr>
        <p:spPr>
          <a:xfrm>
            <a:off x="3319272" y="288036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4645152" y="288036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5971032" y="288036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7296912" y="288036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74320" y="3127248"/>
            <a:ext cx="201168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286000" y="3127248"/>
            <a:ext cx="1005840" cy="246888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291840" y="3127248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17720" y="3127248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943600" y="3127248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269480" y="3127248"/>
            <a:ext cx="1325880" cy="246888"/>
          </a:xfrm>
          <a:prstGeom prst="rect">
            <a:avLst/>
          </a:prstGeom>
          <a:solidFill>
            <a:srgbClr val="1A1A3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29184" y="31272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マルチデバイス対応（進捗同期）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2313432" y="3127248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70" dirty="0"/>
          </a:p>
        </p:txBody>
      </p:sp>
      <p:sp>
        <p:nvSpPr>
          <p:cNvPr id="121" name="Text 119"/>
          <p:cNvSpPr/>
          <p:nvPr/>
        </p:nvSpPr>
        <p:spPr>
          <a:xfrm>
            <a:off x="3319272" y="312724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4645152" y="312724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5971032" y="312724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7296912" y="312724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274320" y="3374136"/>
            <a:ext cx="201168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286000" y="3374136"/>
            <a:ext cx="1005840" cy="246888"/>
          </a:xfrm>
          <a:prstGeom prst="rect">
            <a:avLst/>
          </a:prstGeom>
          <a:solidFill>
            <a:srgbClr val="121225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291840" y="3374136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17720" y="3374136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1A252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43600" y="3374136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69480" y="3374136"/>
            <a:ext cx="1325880" cy="246888"/>
          </a:xfrm>
          <a:prstGeom prst="rect">
            <a:avLst/>
          </a:prstGeom>
          <a:solidFill>
            <a:srgbClr val="121225"/>
          </a:solidFill>
          <a:ln w="12700">
            <a:solidFill>
              <a:srgbClr val="251A2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29184" y="33741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開発費（Claude Code）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2313432" y="3374136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 ※P4は工数増</a:t>
            </a:r>
            <a:endParaRPr lang="en-US" sz="870" dirty="0"/>
          </a:p>
        </p:txBody>
      </p:sp>
      <p:sp>
        <p:nvSpPr>
          <p:cNvPr id="133" name="Text 131"/>
          <p:cNvSpPr/>
          <p:nvPr/>
        </p:nvSpPr>
        <p:spPr>
          <a:xfrm>
            <a:off x="3319272" y="337413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4" name="Text 132"/>
          <p:cNvSpPr/>
          <p:nvPr/>
        </p:nvSpPr>
        <p:spPr>
          <a:xfrm>
            <a:off x="4645152" y="337413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5" name="Text 133"/>
          <p:cNvSpPr/>
          <p:nvPr/>
        </p:nvSpPr>
        <p:spPr>
          <a:xfrm>
            <a:off x="5971032" y="337413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6" name="Text 134"/>
          <p:cNvSpPr/>
          <p:nvPr/>
        </p:nvSpPr>
        <p:spPr>
          <a:xfrm>
            <a:off x="7296912" y="337413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274320" y="3666744"/>
            <a:ext cx="3017520" cy="310896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8" name="Text 136"/>
          <p:cNvSpPr/>
          <p:nvPr/>
        </p:nvSpPr>
        <p:spPr>
          <a:xfrm>
            <a:off x="329184" y="3666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 / 月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3291840" y="3666744"/>
            <a:ext cx="1325880" cy="310896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40" name="Text 138"/>
          <p:cNvSpPr/>
          <p:nvPr/>
        </p:nvSpPr>
        <p:spPr>
          <a:xfrm>
            <a:off x="3319272" y="366674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約20,000円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4617720" y="3666744"/>
            <a:ext cx="1325880" cy="310896"/>
          </a:xfrm>
          <a:prstGeom prst="rect">
            <a:avLst/>
          </a:prstGeom>
          <a:solidFill>
            <a:srgbClr val="4CAF73"/>
          </a:solidFill>
          <a:ln/>
        </p:spPr>
      </p:sp>
      <p:sp>
        <p:nvSpPr>
          <p:cNvPr id="142" name="Text 140"/>
          <p:cNvSpPr/>
          <p:nvPr/>
        </p:nvSpPr>
        <p:spPr>
          <a:xfrm>
            <a:off x="4645152" y="366674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約20,150円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943600" y="3666744"/>
            <a:ext cx="1325880" cy="3108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4" name="Text 142"/>
          <p:cNvSpPr/>
          <p:nvPr/>
        </p:nvSpPr>
        <p:spPr>
          <a:xfrm>
            <a:off x="5971032" y="366674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約23,000〜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30,000円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269480" y="3666744"/>
            <a:ext cx="1325880" cy="31089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6" name="Text 144"/>
          <p:cNvSpPr/>
          <p:nvPr/>
        </p:nvSpPr>
        <p:spPr>
          <a:xfrm>
            <a:off x="7296912" y="366674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手数料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＋数百円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74320" y="4032504"/>
            <a:ext cx="301752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29184" y="403250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持続可能性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3291840" y="4032504"/>
            <a:ext cx="132588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319272" y="40599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51" name="Text 149"/>
          <p:cNvSpPr/>
          <p:nvPr/>
        </p:nvSpPr>
        <p:spPr>
          <a:xfrm>
            <a:off x="3310128" y="4261104"/>
            <a:ext cx="1289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ワンストップ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(UTAGE1社)</a:t>
            </a:r>
            <a:endParaRPr lang="en-US" sz="730" dirty="0"/>
          </a:p>
        </p:txBody>
      </p:sp>
      <p:sp>
        <p:nvSpPr>
          <p:cNvPr id="152" name="Shape 150"/>
          <p:cNvSpPr/>
          <p:nvPr/>
        </p:nvSpPr>
        <p:spPr>
          <a:xfrm>
            <a:off x="4617720" y="4032504"/>
            <a:ext cx="132588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45152" y="40599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154" name="Text 152"/>
          <p:cNvSpPr/>
          <p:nvPr/>
        </p:nvSpPr>
        <p:spPr>
          <a:xfrm>
            <a:off x="4636008" y="4261104"/>
            <a:ext cx="1289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ワンストップ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(UTAGE1社)</a:t>
            </a:r>
            <a:endParaRPr lang="en-US" sz="730" dirty="0"/>
          </a:p>
        </p:txBody>
      </p:sp>
      <p:sp>
        <p:nvSpPr>
          <p:cNvPr id="155" name="Shape 153"/>
          <p:cNvSpPr/>
          <p:nvPr/>
        </p:nvSpPr>
        <p:spPr>
          <a:xfrm>
            <a:off x="5943600" y="4032504"/>
            <a:ext cx="132588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71032" y="40599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57" name="Text 155"/>
          <p:cNvSpPr/>
          <p:nvPr/>
        </p:nvSpPr>
        <p:spPr>
          <a:xfrm>
            <a:off x="5961888" y="4261104"/>
            <a:ext cx="1289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2社体制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(UTAGE+AWS)</a:t>
            </a:r>
            <a:endParaRPr lang="en-US" sz="730" dirty="0"/>
          </a:p>
        </p:txBody>
      </p:sp>
      <p:sp>
        <p:nvSpPr>
          <p:cNvPr id="158" name="Shape 156"/>
          <p:cNvSpPr/>
          <p:nvPr/>
        </p:nvSpPr>
        <p:spPr>
          <a:xfrm>
            <a:off x="7269480" y="4032504"/>
            <a:ext cx="1325880" cy="457200"/>
          </a:xfrm>
          <a:prstGeom prst="rect">
            <a:avLst/>
          </a:prstGeom>
          <a:solidFill>
            <a:srgbClr val="14142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296912" y="40599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7287768" y="4261104"/>
            <a:ext cx="12893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3社体制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(分散・要監視)</a:t>
            </a:r>
            <a:endParaRPr lang="en-US" sz="730" dirty="0"/>
          </a:p>
        </p:txBody>
      </p:sp>
      <p:sp>
        <p:nvSpPr>
          <p:cNvPr id="161" name="Shape 159"/>
          <p:cNvSpPr/>
          <p:nvPr/>
        </p:nvSpPr>
        <p:spPr>
          <a:xfrm>
            <a:off x="274320" y="4535424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251A2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65760" y="45354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パターン4は月額固定費が最安だが、3社分の仕様変更・障害対応・サービス継続リスクを自前で追う必要がある点に注意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3200400" cy="3200400"/>
          </a:xfrm>
          <a:prstGeom prst="ellipse">
            <a:avLst/>
          </a:prstGeom>
          <a:solidFill>
            <a:srgbClr val="7B5EA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ネクストステップ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4A9ED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8308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1〜2週間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要件ヒアリング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動画・教材の本数と構成確認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UTAGEコース設計の確認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RPGクエスト設計・ステータス設計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2〜3週間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プロトタイプ制作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16タイプアバター選択UI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4ステータス表示・バー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基本クエストリスト完成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82296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1A1A35"/>
          </a:solidFill>
          <a:ln w="12700">
            <a:solidFill>
              <a:srgbClr val="4CA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960120"/>
            <a:ext cx="1188720" cy="347472"/>
          </a:xfrm>
          <a:prstGeom prst="roundRect">
            <a:avLst>
              <a:gd name="adj" fmla="val 23684"/>
            </a:avLst>
          </a:prstGeom>
          <a:solidFill>
            <a:srgbClr val="4CAF73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978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3524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リリース・調整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GitHub Pagesでデプロイ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2715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UTAGEとのリンク設置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4015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ユーザーFBで継続改善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4681728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4700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まず「Phase 1 要件ヒアリング」の日程を合わせましょう！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2026-07-18T16:47:46Z</dcterms:created>
  <dcterms:modified xsi:type="dcterms:W3CDTF">2026-07-18T16:47:46Z</dcterms:modified>
</cp:coreProperties>
</file>